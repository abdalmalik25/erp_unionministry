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929313" y="0"/>
            <a:ext cx="3214688" cy="5143500"/>
          </a:xfrm>
          <a:prstGeom prst="rect">
            <a:avLst/>
          </a:prstGeom>
          <a:solidFill>
            <a:srgbClr val="1E1B4B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531" y="1571625"/>
            <a:ext cx="2000250" cy="20002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86188" y="1301614"/>
            <a:ext cx="4386263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1E1B4B"/>
                </a:solidFill>
                <a:latin typeface="Noto Sans Arabic Black" pitchFamily="34" charset="0"/>
                <a:ea typeface="Noto Sans Arabic Black" pitchFamily="34" charset="-122"/>
                <a:cs typeface="Noto Sans Arabic Black" pitchFamily="34" charset="-120"/>
              </a:rPr>
              <a:t>المنظومة الوطنية</a:t>
            </a:r>
            <a:r>
              <a:rPr lang="en-US" sz="3300" b="1" dirty="0">
                <a:solidFill>
                  <a:srgbClr val="1E1B4B"/>
                </a:solidFill>
                <a:latin typeface="Noto Sans Arabic Black" pitchFamily="34" charset="0"/>
                <a:ea typeface="Noto Sans Arabic Black" pitchFamily="34" charset="-122"/>
                <a:cs typeface="Noto Sans Arabic Black" pitchFamily="34" charset="-120"/>
              </a:rPr>
              <a:t>
</a:t>
            </a:r>
            <a:r>
              <a:rPr lang="en-US" sz="3300" b="1" dirty="0">
                <a:solidFill>
                  <a:srgbClr val="1E1B4B"/>
                </a:solidFill>
                <a:latin typeface="Noto Sans Arabic Black" pitchFamily="34" charset="0"/>
                <a:ea typeface="Noto Sans Arabic Black" pitchFamily="34" charset="-122"/>
                <a:cs typeface="Noto Sans Arabic Black" pitchFamily="34" charset="-120"/>
              </a:rPr>
              <a:t>لإدارة قطاع العمل</a:t>
            </a:r>
            <a:endParaRPr lang="en-US" sz="3300" dirty="0"/>
          </a:p>
        </p:txBody>
      </p:sp>
      <p:sp>
        <p:nvSpPr>
          <p:cNvPr id="6" name="Text 2"/>
          <p:cNvSpPr/>
          <p:nvPr/>
        </p:nvSpPr>
        <p:spPr>
          <a:xfrm>
            <a:off x="3786188" y="2541724"/>
            <a:ext cx="438626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نحو سوق عمل جاذب، منظم، رقمي، ومتمحور حول المستفيد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314950" y="3570424"/>
            <a:ext cx="30075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عرض مؤسسي حكومي احترافي - النسخة الاستراتيجية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42963"/>
            <a:ext cx="9144000" cy="14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428625"/>
            <a:ext cx="8572500" cy="632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الملخص التنفيذي للمنظومة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096019" y="1285875"/>
            <a:ext cx="2476481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7048537" y="1571625"/>
            <a:ext cx="571500" cy="57150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5700" y="1728788"/>
            <a:ext cx="257175" cy="257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10331" y="2321719"/>
            <a:ext cx="204785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الرسالة المركزية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310331" y="2853928"/>
            <a:ext cx="2047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الانتقال من تقديم خدمات رقمية متفرقة إلى بناء منظومة عمل مترابطة تركز على قياس الأثر الفعلي ودعم اتخاذ القرار الاستراتيجي بناءً على بيانات موحدة.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333787" y="1285875"/>
            <a:ext cx="2476481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286306" y="1571625"/>
            <a:ext cx="571500" cy="57150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468" y="1728788"/>
            <a:ext cx="257175" cy="2571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48100" y="2321719"/>
            <a:ext cx="204785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القيمة الحكومية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548100" y="2853928"/>
            <a:ext cx="2047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رفع كفاءة سوق العمل من خلال توحيد السياسات، وزيادة الشفافية المؤسسية، وتقليل زمن معالجة الطلبات، مع تحسين جودة الامتثال للأنظمة واللوائح.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71556" y="1285875"/>
            <a:ext cx="2476481" cy="2857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1524074" y="1571625"/>
            <a:ext cx="571500" cy="571500"/>
          </a:xfrm>
          <a:prstGeom prst="ellipse">
            <a:avLst/>
          </a:prstGeom>
          <a:solidFill>
            <a:srgbClr val="1E1B4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090" y="1728788"/>
            <a:ext cx="321469" cy="2571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85868" y="2321719"/>
            <a:ext cx="204785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الإطار الموحد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85868" y="2853928"/>
            <a:ext cx="20478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تكامل السياسات والبيانات والخدمات والرقابة في منصة وطنية شاملة تضمن تحسين تجربة العامل والمنشأة والجهة الحكومية على حد سواء.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336506" y="4614863"/>
            <a:ext cx="223599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* المنظومة الوطنية لإدارة قطاع العمل - رؤية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8572500" cy="632222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لماذا نحتاج إلى منظومة متكاملة؟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2475" y="1396603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29375" y="1285875"/>
            <a:ext cx="1835944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تحديات الوضع الراهن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4786313" y="1921669"/>
            <a:ext cx="3786188" cy="9386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8543925" y="1921669"/>
            <a:ext cx="28575" cy="93862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8" name="Text 4"/>
          <p:cNvSpPr/>
          <p:nvPr/>
        </p:nvSpPr>
        <p:spPr>
          <a:xfrm>
            <a:off x="4929188" y="2100263"/>
            <a:ext cx="350043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تشتت أصحاب المصلحة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929188" y="2500313"/>
            <a:ext cx="35004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تداخل الرحلات الخدمية بين العامل والمنشأة والجهات الحكومية مما يسبب إرباكاً للمستفيد.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786313" y="3003166"/>
            <a:ext cx="3786188" cy="9386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8543925" y="3003166"/>
            <a:ext cx="28575" cy="93862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2" name="Text 8"/>
          <p:cNvSpPr/>
          <p:nvPr/>
        </p:nvSpPr>
        <p:spPr>
          <a:xfrm>
            <a:off x="4929188" y="3181759"/>
            <a:ext cx="350043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فجوة البيانات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929188" y="3581809"/>
            <a:ext cx="35004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الحاجة الماسة لبيانات موحدة وموثوقة لدعم التخطيط والرقابة وصناعة السياسات العمالية.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669" y="1396603"/>
            <a:ext cx="150019" cy="2000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307431" y="1285875"/>
            <a:ext cx="1793081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الضرورة الاستراتيجية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71500" y="1921669"/>
            <a:ext cx="3786188" cy="9386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2"/>
          <p:cNvSpPr/>
          <p:nvPr/>
        </p:nvSpPr>
        <p:spPr>
          <a:xfrm>
            <a:off x="4329113" y="1921669"/>
            <a:ext cx="28575" cy="93862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8" name="Text 13"/>
          <p:cNvSpPr/>
          <p:nvPr/>
        </p:nvSpPr>
        <p:spPr>
          <a:xfrm>
            <a:off x="714375" y="2100263"/>
            <a:ext cx="350043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الرقمنة الاستباقية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714375" y="2500313"/>
            <a:ext cx="35004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تلبية الطلب المتنامي على الخدمات الرقمية التي تتوقع احتياجات المستفيد قبل طلبها.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71500" y="3003166"/>
            <a:ext cx="3786188" cy="9386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4329113" y="3003166"/>
            <a:ext cx="28575" cy="938622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2" name="Text 17"/>
          <p:cNvSpPr/>
          <p:nvPr/>
        </p:nvSpPr>
        <p:spPr>
          <a:xfrm>
            <a:off x="714375" y="3181759"/>
            <a:ext cx="350043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التوازن المستدام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714375" y="3581809"/>
            <a:ext cx="3500438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تحقيق التوازن بين جاذبية السوق وحماية الحقوق ورفع الإنتاجية الوطنية الشاملة.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71500" y="4268391"/>
            <a:ext cx="8001000" cy="446484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5" name="Text 20"/>
          <p:cNvSpPr/>
          <p:nvPr/>
        </p:nvSpPr>
        <p:spPr>
          <a:xfrm>
            <a:off x="571500" y="4268391"/>
            <a:ext cx="8001000" cy="446484"/>
          </a:xfrm>
          <a:prstGeom prst="rect">
            <a:avLst/>
          </a:prstGeom>
          <a:noFill/>
          <a:ln/>
        </p:spPr>
        <p:txBody>
          <a:bodyPr wrap="square" lIns="0" tIns="170053" rIns="255143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تنطلق المنظومة من واقع وجود منصات متعددة، مع الحاجة إلى حوكمة تكاملية تجعلها تعمل ككيان واحد متناغم.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57188"/>
            <a:ext cx="8572500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الرؤية والرسالة والمبادئ الحاكمة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71500" y="1000125"/>
            <a:ext cx="8001000" cy="11430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" name="Shape 2"/>
          <p:cNvSpPr/>
          <p:nvPr/>
        </p:nvSpPr>
        <p:spPr>
          <a:xfrm>
            <a:off x="8501063" y="1000125"/>
            <a:ext cx="71438" cy="1143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3"/>
          <p:cNvSpPr/>
          <p:nvPr/>
        </p:nvSpPr>
        <p:spPr>
          <a:xfrm>
            <a:off x="928688" y="1285875"/>
            <a:ext cx="7286625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الرؤية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28688" y="1753791"/>
            <a:ext cx="7286625" cy="320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سوق عمل وطني جاذب ومنتج، تديره منظومة رقمية موحدة وموثوقة.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1500" y="2357438"/>
            <a:ext cx="8001000" cy="11850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928688" y="2571750"/>
            <a:ext cx="7286625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الرسالة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28688" y="3039666"/>
            <a:ext cx="7286625" cy="502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تمكين أطراف سوق العمل من خدمات مترابطة وقرارات قائمة على البيانات، مع ضمان الامتثال وحماية الحقوق وتحسين تجربة المستفيد.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000750" y="3828269"/>
            <a:ext cx="2571750" cy="5715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3" y="4099731"/>
            <a:ext cx="214313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58063" y="4049725"/>
            <a:ext cx="75009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المستفيد أولاً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86125" y="3828269"/>
            <a:ext cx="2571750" cy="5715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88" y="4099731"/>
            <a:ext cx="214313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25541" y="4049725"/>
            <a:ext cx="106799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البيانات أصل وطني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71500" y="3828269"/>
            <a:ext cx="2571750" cy="5715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063" y="4099731"/>
            <a:ext cx="214313" cy="1714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82366" y="4049725"/>
            <a:ext cx="89654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الرقمنة الموثوقة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6000750" y="4542644"/>
            <a:ext cx="2571750" cy="5715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5313" y="4814106"/>
            <a:ext cx="214313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40178" y="4764100"/>
            <a:ext cx="967978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العدالة والشفافية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3286125" y="4542644"/>
            <a:ext cx="2571750" cy="5715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0688" y="4814106"/>
            <a:ext cx="214313" cy="1714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375547" y="4764100"/>
            <a:ext cx="101798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التكامل المؤسسي</a:t>
            </a:r>
            <a:endParaRPr lang="en-US" sz="900" dirty="0"/>
          </a:p>
        </p:txBody>
      </p:sp>
      <p:sp>
        <p:nvSpPr>
          <p:cNvPr id="26" name="Shape 18"/>
          <p:cNvSpPr/>
          <p:nvPr/>
        </p:nvSpPr>
        <p:spPr>
          <a:xfrm>
            <a:off x="571500" y="4542644"/>
            <a:ext cx="2571750" cy="57150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6063" y="4814106"/>
            <a:ext cx="214313" cy="1714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668066" y="4764100"/>
            <a:ext cx="1010841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التحسين المستمر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8572500" cy="632222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نطاق المنظومة وأصحاب المصلحة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571500" y="1143000"/>
            <a:ext cx="8001000" cy="37218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960915" y="1143000"/>
            <a:ext cx="1597298" cy="503634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Text 3"/>
          <p:cNvSpPr/>
          <p:nvPr/>
        </p:nvSpPr>
        <p:spPr>
          <a:xfrm>
            <a:off x="6960915" y="1143000"/>
            <a:ext cx="1597298" cy="503634"/>
          </a:xfrm>
          <a:prstGeom prst="rect">
            <a:avLst/>
          </a:prstGeom>
          <a:noFill/>
          <a:ln/>
        </p:spPr>
        <p:txBody>
          <a:bodyPr wrap="square" lIns="0" tIns="170053" rIns="170053" bIns="0" rtlCol="0" anchor="ctr">
            <a:sp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المجال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65588" y="1143000"/>
            <a:ext cx="2795327" cy="503634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8" name="Text 5"/>
          <p:cNvSpPr/>
          <p:nvPr/>
        </p:nvSpPr>
        <p:spPr>
          <a:xfrm>
            <a:off x="4165588" y="1143000"/>
            <a:ext cx="2795327" cy="503634"/>
          </a:xfrm>
          <a:prstGeom prst="rect">
            <a:avLst/>
          </a:prstGeom>
          <a:noFill/>
          <a:ln/>
        </p:spPr>
        <p:txBody>
          <a:bodyPr wrap="square" lIns="0" tIns="170053" rIns="170053" bIns="0" rtlCol="0" anchor="ctr">
            <a:sp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الأطراف الرئيسية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71500" y="1143000"/>
            <a:ext cx="3594088" cy="503634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" y="1143000"/>
            <a:ext cx="3594088" cy="503634"/>
          </a:xfrm>
          <a:prstGeom prst="rect">
            <a:avLst/>
          </a:prstGeom>
          <a:noFill/>
          <a:ln/>
        </p:spPr>
        <p:txBody>
          <a:bodyPr wrap="square" lIns="0" tIns="170053" rIns="170053" bIns="0" rtlCol="0" anchor="ctr">
            <a:sp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النتيجة المستهدفة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175" y="1957388"/>
            <a:ext cx="142875" cy="1428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68728" y="1885950"/>
            <a:ext cx="1218009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التنظيم والسياسات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165588" y="1646634"/>
            <a:ext cx="2795327" cy="642938"/>
          </a:xfrm>
          <a:prstGeom prst="rect">
            <a:avLst/>
          </a:prstGeom>
          <a:noFill/>
          <a:ln/>
        </p:spPr>
        <p:txBody>
          <a:bodyPr wrap="square" lIns="0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الجهة المنظمة والجهات الحكومية ذات العلاقة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71500" y="1646634"/>
            <a:ext cx="3594088" cy="642938"/>
          </a:xfrm>
          <a:prstGeom prst="rect">
            <a:avLst/>
          </a:prstGeom>
          <a:noFill/>
          <a:ln/>
        </p:spPr>
        <p:txBody>
          <a:bodyPr wrap="square" lIns="0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سياسات متسقة، قابلة للقياس، ومبنية على الأدلة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175" y="2602111"/>
            <a:ext cx="142875" cy="1428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54528" y="2530673"/>
            <a:ext cx="532209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الخدمات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165588" y="2289572"/>
            <a:ext cx="2795327" cy="642938"/>
          </a:xfrm>
          <a:prstGeom prst="rect">
            <a:avLst/>
          </a:prstGeom>
          <a:noFill/>
          <a:ln/>
        </p:spPr>
        <p:txBody>
          <a:bodyPr wrap="square" lIns="0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الأفراد، العمال، وأصحاب العمل (المنشآت)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71500" y="2289572"/>
            <a:ext cx="3594088" cy="642938"/>
          </a:xfrm>
          <a:prstGeom prst="rect">
            <a:avLst/>
          </a:prstGeom>
          <a:noFill/>
          <a:ln/>
        </p:spPr>
        <p:txBody>
          <a:bodyPr wrap="square" lIns="0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رحلة رقمية مبسطة، سريعة، ومتمحورة حول المستفيد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456" y="3245048"/>
            <a:ext cx="178594" cy="1428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79469" y="3173611"/>
            <a:ext cx="971550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الامتثال والرقابة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165588" y="2932509"/>
            <a:ext cx="2795327" cy="642938"/>
          </a:xfrm>
          <a:prstGeom prst="rect">
            <a:avLst/>
          </a:prstGeom>
          <a:noFill/>
          <a:ln/>
        </p:spPr>
        <p:txBody>
          <a:bodyPr wrap="square" lIns="0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فرق التفتيش والجهات الرقابية المختصة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71500" y="2932509"/>
            <a:ext cx="3594088" cy="642938"/>
          </a:xfrm>
          <a:prstGeom prst="rect">
            <a:avLst/>
          </a:prstGeom>
          <a:noFill/>
          <a:ln/>
        </p:spPr>
        <p:txBody>
          <a:bodyPr wrap="square" lIns="0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امتثال استباقي ورقابة ذكية مبنية على تقييم المخاطر</a:t>
            </a:r>
            <a:endParaRPr lang="en-US" sz="10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6034" y="3887986"/>
            <a:ext cx="125016" cy="1428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33022" y="3816548"/>
            <a:ext cx="1171575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البيانات والتحليلات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4165588" y="3575447"/>
            <a:ext cx="2795327" cy="642938"/>
          </a:xfrm>
          <a:prstGeom prst="rect">
            <a:avLst/>
          </a:prstGeom>
          <a:noFill/>
          <a:ln/>
        </p:spPr>
        <p:txBody>
          <a:bodyPr wrap="square" lIns="0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مراكز البيانات الوطنية وصناع القرار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71500" y="3575447"/>
            <a:ext cx="3594088" cy="642938"/>
          </a:xfrm>
          <a:prstGeom prst="rect">
            <a:avLst/>
          </a:prstGeom>
          <a:noFill/>
          <a:ln/>
        </p:spPr>
        <p:txBody>
          <a:bodyPr wrap="square" lIns="0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مؤشرات أداء موحدة ورؤى استراتيجية قابلة للتنفيذ</a:t>
            </a:r>
            <a:endParaRPr lang="en-US" sz="10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2456" y="4530923"/>
            <a:ext cx="178594" cy="1428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36606" y="4459486"/>
            <a:ext cx="1014413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التمكين والتطوير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4165588" y="4218384"/>
            <a:ext cx="2795327" cy="642938"/>
          </a:xfrm>
          <a:prstGeom prst="rect">
            <a:avLst/>
          </a:prstGeom>
          <a:noFill/>
          <a:ln/>
        </p:spPr>
        <p:txBody>
          <a:bodyPr wrap="square" lIns="0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الباحثون عن عمل، المنشآت، ومزودو التدريب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571500" y="4218384"/>
            <a:ext cx="3594088" cy="642938"/>
          </a:xfrm>
          <a:prstGeom prst="rect">
            <a:avLst/>
          </a:prstGeom>
          <a:noFill/>
          <a:ln/>
        </p:spPr>
        <p:txBody>
          <a:bodyPr wrap="square" lIns="0" tIns="170053" rIns="170053" bIns="0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مواءمة دقيقة بين المهارات الوطنية وفرص سوق العمل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نموذج التشغيل المستهدف للمنظومة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307181" y="1000125"/>
            <a:ext cx="100013" cy="278606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81" y="1092994"/>
            <a:ext cx="100013" cy="1143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7181" y="4186238"/>
            <a:ext cx="100013" cy="278606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81" y="4279106"/>
            <a:ext cx="100013" cy="1143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71500" y="928688"/>
            <a:ext cx="800100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4"/>
          <p:cNvSpPr/>
          <p:nvPr/>
        </p:nvSpPr>
        <p:spPr>
          <a:xfrm>
            <a:off x="8501063" y="928688"/>
            <a:ext cx="71438" cy="785813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Shape 5"/>
          <p:cNvSpPr/>
          <p:nvPr/>
        </p:nvSpPr>
        <p:spPr>
          <a:xfrm>
            <a:off x="7858125" y="1071563"/>
            <a:ext cx="500063" cy="50006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6"/>
          <p:cNvSpPr/>
          <p:nvPr/>
        </p:nvSpPr>
        <p:spPr>
          <a:xfrm>
            <a:off x="571500" y="987623"/>
            <a:ext cx="7072313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طبقة الرقابة والتحليلات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71500" y="1384102"/>
            <a:ext cx="707231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لوحات قيادة، إنذار مبكر، قياس أداء، وتحليلات تنبؤية لدعم القرار الاستراتيجي.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71500" y="1821656"/>
            <a:ext cx="800100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9"/>
          <p:cNvSpPr/>
          <p:nvPr/>
        </p:nvSpPr>
        <p:spPr>
          <a:xfrm>
            <a:off x="8501063" y="1821656"/>
            <a:ext cx="71438" cy="785813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5" name="Shape 10"/>
          <p:cNvSpPr/>
          <p:nvPr/>
        </p:nvSpPr>
        <p:spPr>
          <a:xfrm>
            <a:off x="7858125" y="1964531"/>
            <a:ext cx="500063" cy="500063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281" y="2100263"/>
            <a:ext cx="28575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1500" y="1880592"/>
            <a:ext cx="7072313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طبقة الخدمات والقنوات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571500" y="2277070"/>
            <a:ext cx="707231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بوابة موحدة وتجارب رقمية مترابطة للأفراد والمنشآت والجهات الحكومية.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71500" y="2714625"/>
            <a:ext cx="800100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8501063" y="2714625"/>
            <a:ext cx="71438" cy="785813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1" name="Shape 15"/>
          <p:cNvSpPr/>
          <p:nvPr/>
        </p:nvSpPr>
        <p:spPr>
          <a:xfrm>
            <a:off x="7858125" y="2857500"/>
            <a:ext cx="500063" cy="500063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8144" y="2993231"/>
            <a:ext cx="200025" cy="2286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71500" y="2773561"/>
            <a:ext cx="7072313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طبقة البيانات الوطنية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71500" y="3170039"/>
            <a:ext cx="707231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سجل موحد للمنشآت والقوى العاملة والعقود والامتثال وفق ضوابط الخصوصية.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571500" y="3607594"/>
            <a:ext cx="8001000" cy="7858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19"/>
          <p:cNvSpPr/>
          <p:nvPr/>
        </p:nvSpPr>
        <p:spPr>
          <a:xfrm>
            <a:off x="8501063" y="3607594"/>
            <a:ext cx="71438" cy="785813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7" name="Shape 20"/>
          <p:cNvSpPr/>
          <p:nvPr/>
        </p:nvSpPr>
        <p:spPr>
          <a:xfrm>
            <a:off x="7858125" y="3750469"/>
            <a:ext cx="500063" cy="500063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3856" y="3886200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71500" y="3666530"/>
            <a:ext cx="7072313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طبقة السياسات والحوكمة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71500" y="4063008"/>
            <a:ext cx="707231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تحديد الأدوار، السياسات، المعايير الموحدة، وإدارة المخاطر التشغيلية.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8572500" cy="632222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رحلة المستفيد: من الطلب إلى الأثر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7715250" y="1571625"/>
            <a:ext cx="571500" cy="571500"/>
          </a:xfrm>
          <a:prstGeom prst="ellipse">
            <a:avLst/>
          </a:prstGeom>
          <a:solidFill>
            <a:srgbClr val="1E1B4B"/>
          </a:solidFill>
          <a:ln w="27432">
            <a:solidFill>
              <a:srgbClr val="05966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984" y="1757363"/>
            <a:ext cx="250031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29500" y="2286000"/>
            <a:ext cx="1143000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التعريف والتحقق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7429500" y="2661047"/>
            <a:ext cx="1143000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هوية رقمية وملف موحد للمستفيد يغني عن تكرار البيانات.</a:t>
            </a:r>
            <a:endParaRPr lang="en-US" sz="750" dirty="0"/>
          </a:p>
        </p:txBody>
      </p:sp>
      <p:sp>
        <p:nvSpPr>
          <p:cNvPr id="8" name="Shape 4"/>
          <p:cNvSpPr/>
          <p:nvPr/>
        </p:nvSpPr>
        <p:spPr>
          <a:xfrm>
            <a:off x="6343650" y="1571625"/>
            <a:ext cx="571500" cy="571500"/>
          </a:xfrm>
          <a:prstGeom prst="ellipse">
            <a:avLst/>
          </a:prstGeom>
          <a:solidFill>
            <a:srgbClr val="1E1B4B"/>
          </a:solidFill>
          <a:ln w="27432">
            <a:solidFill>
              <a:srgbClr val="059669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388" y="1757363"/>
            <a:ext cx="200025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57900" y="2286000"/>
            <a:ext cx="1143000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الطلب الذكي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6057900" y="2661047"/>
            <a:ext cx="1143000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توجيه آلي للخدمة والاشتراطات المناسبة بناءً على الملف.</a:t>
            </a:r>
            <a:endParaRPr lang="en-US" sz="750" dirty="0"/>
          </a:p>
        </p:txBody>
      </p:sp>
      <p:sp>
        <p:nvSpPr>
          <p:cNvPr id="12" name="Shape 7"/>
          <p:cNvSpPr/>
          <p:nvPr/>
        </p:nvSpPr>
        <p:spPr>
          <a:xfrm>
            <a:off x="4972050" y="1571625"/>
            <a:ext cx="571500" cy="571500"/>
          </a:xfrm>
          <a:prstGeom prst="ellipse">
            <a:avLst/>
          </a:prstGeom>
          <a:solidFill>
            <a:srgbClr val="1E1B4B"/>
          </a:solidFill>
          <a:ln w="27432">
            <a:solidFill>
              <a:srgbClr val="059669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788" y="1757363"/>
            <a:ext cx="200025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86300" y="2286000"/>
            <a:ext cx="1143000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المعالجة المتكاملة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4686300" y="2661047"/>
            <a:ext cx="1143000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تبادل البيانات بين الأنظمة الحكومية لضمان سرعة الإنجاز.</a:t>
            </a:r>
            <a:endParaRPr lang="en-US" sz="750" dirty="0"/>
          </a:p>
        </p:txBody>
      </p:sp>
      <p:sp>
        <p:nvSpPr>
          <p:cNvPr id="16" name="Shape 10"/>
          <p:cNvSpPr/>
          <p:nvPr/>
        </p:nvSpPr>
        <p:spPr>
          <a:xfrm>
            <a:off x="3600450" y="1571625"/>
            <a:ext cx="571500" cy="571500"/>
          </a:xfrm>
          <a:prstGeom prst="ellipse">
            <a:avLst/>
          </a:prstGeom>
          <a:solidFill>
            <a:srgbClr val="1E1B4B"/>
          </a:solidFill>
          <a:ln w="27432">
            <a:solidFill>
              <a:srgbClr val="059669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8689" y="1757363"/>
            <a:ext cx="175022" cy="2000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14700" y="2286000"/>
            <a:ext cx="1143000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الإشعار والمتابعة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3314700" y="2661047"/>
            <a:ext cx="1143000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شفافية كاملة لحالة الطلب مع تنبيهات استباقية للمستفيد.</a:t>
            </a:r>
            <a:endParaRPr lang="en-US" sz="750" dirty="0"/>
          </a:p>
        </p:txBody>
      </p:sp>
      <p:sp>
        <p:nvSpPr>
          <p:cNvPr id="20" name="Shape 13"/>
          <p:cNvSpPr/>
          <p:nvPr/>
        </p:nvSpPr>
        <p:spPr>
          <a:xfrm>
            <a:off x="2228850" y="1571625"/>
            <a:ext cx="571500" cy="571500"/>
          </a:xfrm>
          <a:prstGeom prst="ellipse">
            <a:avLst/>
          </a:prstGeom>
          <a:solidFill>
            <a:srgbClr val="1E1B4B"/>
          </a:solidFill>
          <a:ln w="27432">
            <a:solidFill>
              <a:srgbClr val="059669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9591" y="1757363"/>
            <a:ext cx="150019" cy="20002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943100" y="2286000"/>
            <a:ext cx="1143000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الإغلاق والقياس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1943100" y="2661047"/>
            <a:ext cx="1143000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توثيق النتيجة النهائية وقياس جودة التجربة فوراً.</a:t>
            </a:r>
            <a:endParaRPr lang="en-US" sz="750" dirty="0"/>
          </a:p>
        </p:txBody>
      </p:sp>
      <p:sp>
        <p:nvSpPr>
          <p:cNvPr id="24" name="Shape 16"/>
          <p:cNvSpPr/>
          <p:nvPr/>
        </p:nvSpPr>
        <p:spPr>
          <a:xfrm>
            <a:off x="857250" y="1571625"/>
            <a:ext cx="571500" cy="571500"/>
          </a:xfrm>
          <a:prstGeom prst="ellipse">
            <a:avLst/>
          </a:prstGeom>
          <a:solidFill>
            <a:srgbClr val="1E1B4B"/>
          </a:solidFill>
          <a:ln w="27432">
            <a:solidFill>
              <a:srgbClr val="059669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486" y="1757363"/>
            <a:ext cx="225028" cy="200025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71500" y="2286000"/>
            <a:ext cx="1143000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التحسين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571500" y="2661047"/>
            <a:ext cx="1143000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755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تحويل البيانات إلى قرارات تطويرية لتحسين الرحلة مستقبلاً.</a:t>
            </a:r>
            <a:endParaRPr lang="en-US" sz="750" dirty="0"/>
          </a:p>
        </p:txBody>
      </p:sp>
      <p:sp>
        <p:nvSpPr>
          <p:cNvPr id="28" name="Shape 19"/>
          <p:cNvSpPr/>
          <p:nvPr/>
        </p:nvSpPr>
        <p:spPr>
          <a:xfrm>
            <a:off x="2130623" y="3652465"/>
            <a:ext cx="4882753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0"/>
          <p:cNvSpPr/>
          <p:nvPr/>
        </p:nvSpPr>
        <p:spPr>
          <a:xfrm>
            <a:off x="2130623" y="3652465"/>
            <a:ext cx="4882753" cy="2857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9027" y="3895353"/>
            <a:ext cx="228600" cy="2286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2416373" y="3845347"/>
            <a:ext cx="3939778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النتيجة: رحلة رقمية سلسة، شفافة، ومتمحورة حول الإنسان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8572500" cy="632222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محاور القدرات الوطنية الأساسية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7172325" y="1285875"/>
            <a:ext cx="1543050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7172325" y="1285875"/>
            <a:ext cx="1543050" cy="35719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6" name="Shape 3"/>
          <p:cNvSpPr/>
          <p:nvPr/>
        </p:nvSpPr>
        <p:spPr>
          <a:xfrm>
            <a:off x="7693819" y="1500188"/>
            <a:ext cx="500063" cy="500063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694" y="1643063"/>
            <a:ext cx="214313" cy="2143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0" y="2143125"/>
            <a:ext cx="12573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التشريع والتنظيم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315200" y="2714625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أطر تشريعية واضحة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7315200" y="2960359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أدلة إجرائية موحدة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7315200" y="3206093"/>
            <a:ext cx="1257300" cy="32001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تحديث مستمر للسياسات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7315200" y="3611835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حوكمة قطاعية شاملة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486400" y="1285875"/>
            <a:ext cx="1543050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5486400" y="1285875"/>
            <a:ext cx="1543050" cy="35719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5" name="Text 11"/>
          <p:cNvSpPr/>
          <p:nvPr/>
        </p:nvSpPr>
        <p:spPr>
          <a:xfrm>
            <a:off x="8529638" y="2714625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529638" y="2960359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529638" y="3206093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529638" y="3611835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007894" y="1500188"/>
            <a:ext cx="500063" cy="500063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270" y="1643063"/>
            <a:ext cx="189309" cy="21431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629275" y="2143125"/>
            <a:ext cx="12573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البيانات والذكاء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629275" y="2714625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قاموس بيانات وطني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5629275" y="2960359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تكامل آمن للسجلات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5629275" y="3206093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مؤشرات أداء موحدة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5629275" y="3451827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تحليلات تنبؤية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3800475" y="1285875"/>
            <a:ext cx="1543050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2"/>
          <p:cNvSpPr/>
          <p:nvPr/>
        </p:nvSpPr>
        <p:spPr>
          <a:xfrm>
            <a:off x="3800475" y="1285875"/>
            <a:ext cx="1543050" cy="35719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8" name="Text 23"/>
          <p:cNvSpPr/>
          <p:nvPr/>
        </p:nvSpPr>
        <p:spPr>
          <a:xfrm>
            <a:off x="6843713" y="2714625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6843713" y="2960359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6843713" y="3206093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6843713" y="3451827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4321969" y="1500188"/>
            <a:ext cx="500063" cy="500063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055" y="1643063"/>
            <a:ext cx="267891" cy="21431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943350" y="2143125"/>
            <a:ext cx="12573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الخدمات الرقمية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3943350" y="2714625"/>
            <a:ext cx="1257300" cy="32001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تصميم متمحور حول الرحلة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3943350" y="3120368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إتاحة متعددة القنوات</a:t>
            </a:r>
            <a:endParaRPr lang="en-US" sz="850" dirty="0"/>
          </a:p>
        </p:txBody>
      </p:sp>
      <p:sp>
        <p:nvSpPr>
          <p:cNvPr id="37" name="Text 31"/>
          <p:cNvSpPr/>
          <p:nvPr/>
        </p:nvSpPr>
        <p:spPr>
          <a:xfrm>
            <a:off x="3943350" y="3366102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خدمات استباقية ذكية</a:t>
            </a:r>
            <a:endParaRPr lang="en-US" sz="850" dirty="0"/>
          </a:p>
        </p:txBody>
      </p:sp>
      <p:sp>
        <p:nvSpPr>
          <p:cNvPr id="38" name="Text 32"/>
          <p:cNvSpPr/>
          <p:nvPr/>
        </p:nvSpPr>
        <p:spPr>
          <a:xfrm>
            <a:off x="3943350" y="3611835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تجربة مستفيد سلسة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2114550" y="1285875"/>
            <a:ext cx="1543050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4"/>
          <p:cNvSpPr/>
          <p:nvPr/>
        </p:nvSpPr>
        <p:spPr>
          <a:xfrm>
            <a:off x="2114550" y="1285875"/>
            <a:ext cx="1543050" cy="35719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41" name="Text 35"/>
          <p:cNvSpPr/>
          <p:nvPr/>
        </p:nvSpPr>
        <p:spPr>
          <a:xfrm>
            <a:off x="5157788" y="2714625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5157788" y="3120368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5157788" y="3366102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5157788" y="3611835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45" name="Shape 39"/>
          <p:cNvSpPr/>
          <p:nvPr/>
        </p:nvSpPr>
        <p:spPr>
          <a:xfrm>
            <a:off x="2636044" y="1500188"/>
            <a:ext cx="500063" cy="500063"/>
          </a:xfrm>
          <a:prstGeom prst="ellipse">
            <a:avLst/>
          </a:prstGeom>
          <a:solidFill>
            <a:srgbClr val="F1F5F9"/>
          </a:solidFill>
          <a:ln/>
        </p:spPr>
      </p:sp>
      <p:sp>
        <p:nvSpPr>
          <p:cNvPr id="46" name="Text 40"/>
          <p:cNvSpPr/>
          <p:nvPr/>
        </p:nvSpPr>
        <p:spPr>
          <a:xfrm>
            <a:off x="2257425" y="2143125"/>
            <a:ext cx="12573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الرقابة والامتثال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2257425" y="2714625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تصنيف مخاطر المنشآت</a:t>
            </a:r>
            <a:endParaRPr lang="en-US" sz="850" dirty="0"/>
          </a:p>
        </p:txBody>
      </p:sp>
      <p:sp>
        <p:nvSpPr>
          <p:cNvPr id="48" name="Text 42"/>
          <p:cNvSpPr/>
          <p:nvPr/>
        </p:nvSpPr>
        <p:spPr>
          <a:xfrm>
            <a:off x="2257425" y="2960359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رقابة ميدانية موجهة</a:t>
            </a:r>
            <a:endParaRPr lang="en-US" sz="850" dirty="0"/>
          </a:p>
        </p:txBody>
      </p:sp>
      <p:sp>
        <p:nvSpPr>
          <p:cNvPr id="49" name="Text 43"/>
          <p:cNvSpPr/>
          <p:nvPr/>
        </p:nvSpPr>
        <p:spPr>
          <a:xfrm>
            <a:off x="2257425" y="3206093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تسوية فعالة للنزاعات</a:t>
            </a:r>
            <a:endParaRPr lang="en-US" sz="850" dirty="0"/>
          </a:p>
        </p:txBody>
      </p:sp>
      <p:sp>
        <p:nvSpPr>
          <p:cNvPr id="50" name="Text 44"/>
          <p:cNvSpPr/>
          <p:nvPr/>
        </p:nvSpPr>
        <p:spPr>
          <a:xfrm>
            <a:off x="2257425" y="3451827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أتمتة بلاغات المخالفات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428625" y="1285875"/>
            <a:ext cx="1543050" cy="3000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46"/>
          <p:cNvSpPr/>
          <p:nvPr/>
        </p:nvSpPr>
        <p:spPr>
          <a:xfrm>
            <a:off x="428625" y="1285875"/>
            <a:ext cx="1543050" cy="35719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3" name="Text 47"/>
          <p:cNvSpPr/>
          <p:nvPr/>
        </p:nvSpPr>
        <p:spPr>
          <a:xfrm>
            <a:off x="3471863" y="2714625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54" name="Text 48"/>
          <p:cNvSpPr/>
          <p:nvPr/>
        </p:nvSpPr>
        <p:spPr>
          <a:xfrm>
            <a:off x="3471863" y="2960359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55" name="Text 49"/>
          <p:cNvSpPr/>
          <p:nvPr/>
        </p:nvSpPr>
        <p:spPr>
          <a:xfrm>
            <a:off x="3471863" y="3206093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56" name="Text 50"/>
          <p:cNvSpPr/>
          <p:nvPr/>
        </p:nvSpPr>
        <p:spPr>
          <a:xfrm>
            <a:off x="3471863" y="3451827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57" name="Shape 51"/>
          <p:cNvSpPr/>
          <p:nvPr/>
        </p:nvSpPr>
        <p:spPr>
          <a:xfrm>
            <a:off x="950119" y="1500188"/>
            <a:ext cx="500063" cy="500063"/>
          </a:xfrm>
          <a:prstGeom prst="ellipse">
            <a:avLst/>
          </a:prstGeom>
          <a:solidFill>
            <a:srgbClr val="F1F5F9"/>
          </a:solidFill>
          <a:ln/>
        </p:spPr>
      </p:sp>
      <p:pic>
        <p:nvPicPr>
          <p:cNvPr id="5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994" y="1643063"/>
            <a:ext cx="214313" cy="214313"/>
          </a:xfrm>
          <a:prstGeom prst="rect">
            <a:avLst/>
          </a:prstGeom>
        </p:spPr>
      </p:pic>
      <p:sp>
        <p:nvSpPr>
          <p:cNvPr id="59" name="Text 52"/>
          <p:cNvSpPr/>
          <p:nvPr/>
        </p:nvSpPr>
        <p:spPr>
          <a:xfrm>
            <a:off x="571500" y="2143125"/>
            <a:ext cx="1257300" cy="657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المهارات والتوظيف</a:t>
            </a:r>
            <a:endParaRPr lang="en-US" sz="1100" dirty="0"/>
          </a:p>
        </p:txBody>
      </p:sp>
      <p:sp>
        <p:nvSpPr>
          <p:cNvPr id="60" name="Text 53"/>
          <p:cNvSpPr/>
          <p:nvPr/>
        </p:nvSpPr>
        <p:spPr>
          <a:xfrm>
            <a:off x="571500" y="2943225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ربط العرض والطلب</a:t>
            </a:r>
            <a:endParaRPr lang="en-US" sz="850" dirty="0"/>
          </a:p>
        </p:txBody>
      </p:sp>
      <p:sp>
        <p:nvSpPr>
          <p:cNvPr id="61" name="Text 54"/>
          <p:cNvSpPr/>
          <p:nvPr/>
        </p:nvSpPr>
        <p:spPr>
          <a:xfrm>
            <a:off x="571500" y="3188959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دعم برامج التدريب</a:t>
            </a:r>
            <a:endParaRPr lang="en-US" sz="850" dirty="0"/>
          </a:p>
        </p:txBody>
      </p:sp>
      <p:sp>
        <p:nvSpPr>
          <p:cNvPr id="62" name="Text 55"/>
          <p:cNvSpPr/>
          <p:nvPr/>
        </p:nvSpPr>
        <p:spPr>
          <a:xfrm>
            <a:off x="571500" y="3434693"/>
            <a:ext cx="1257300" cy="160009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رفع قابلية التوظيف</a:t>
            </a:r>
            <a:endParaRPr lang="en-US" sz="850" dirty="0"/>
          </a:p>
        </p:txBody>
      </p:sp>
      <p:sp>
        <p:nvSpPr>
          <p:cNvPr id="63" name="Text 56"/>
          <p:cNvSpPr/>
          <p:nvPr/>
        </p:nvSpPr>
        <p:spPr>
          <a:xfrm>
            <a:off x="571500" y="3680427"/>
            <a:ext cx="1257300" cy="32001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استشراف مهن المستقبل</a:t>
            </a:r>
            <a:endParaRPr lang="en-US" sz="850" dirty="0"/>
          </a:p>
        </p:txBody>
      </p:sp>
      <p:sp>
        <p:nvSpPr>
          <p:cNvPr id="64" name="Text 57"/>
          <p:cNvSpPr/>
          <p:nvPr/>
        </p:nvSpPr>
        <p:spPr>
          <a:xfrm>
            <a:off x="1785938" y="2943225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1785938" y="3188959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66" name="Text 59"/>
          <p:cNvSpPr/>
          <p:nvPr/>
        </p:nvSpPr>
        <p:spPr>
          <a:xfrm>
            <a:off x="1785938" y="3434693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  <p:sp>
        <p:nvSpPr>
          <p:cNvPr id="67" name="Text 60"/>
          <p:cNvSpPr/>
          <p:nvPr/>
        </p:nvSpPr>
        <p:spPr>
          <a:xfrm>
            <a:off x="1785938" y="3680427"/>
            <a:ext cx="42863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•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8572500" cy="632222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مؤشرات الأداء الاستراتيجية المقترحة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4679156" y="1143000"/>
            <a:ext cx="3893344" cy="17466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8529638" y="1143000"/>
            <a:ext cx="42863" cy="1746647"/>
          </a:xfrm>
          <a:prstGeom prst="rect">
            <a:avLst/>
          </a:prstGeom>
          <a:solidFill>
            <a:srgbClr val="1E1B4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163" y="1437680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04434" y="1357313"/>
            <a:ext cx="1146572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تجربة المستفيد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893469" y="1860947"/>
            <a:ext cx="34647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زمن إنجاز الخدمة (E2E)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893469" y="2203847"/>
            <a:ext cx="34647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نسبة الإكمال الرقمي للطلبات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893469" y="2546747"/>
            <a:ext cx="34647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مؤشر رضا المستفيد النهائي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71500" y="1143000"/>
            <a:ext cx="3893344" cy="17466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421981" y="1143000"/>
            <a:ext cx="42863" cy="1746647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1437680"/>
            <a:ext cx="250031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818209" y="1357313"/>
            <a:ext cx="1075134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كفاءة التشغيل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785813" y="1860947"/>
            <a:ext cx="34647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تكلفة المعاملة الواحدة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785813" y="2203847"/>
            <a:ext cx="34647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نسبة أتمتة العمليات الخلفية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785813" y="2546747"/>
            <a:ext cx="34647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معدل إعادة العمل (Rework)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679156" y="3103959"/>
            <a:ext cx="3893344" cy="17466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8529638" y="3103959"/>
            <a:ext cx="42863" cy="1746647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5"/>
          <p:cNvSpPr/>
          <p:nvPr/>
        </p:nvSpPr>
        <p:spPr>
          <a:xfrm>
            <a:off x="7083028" y="3318272"/>
            <a:ext cx="1168003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الامتثال والرقابة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893469" y="3821906"/>
            <a:ext cx="34647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نسبة المنشآت الممتثلة للأنظمة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893469" y="4164806"/>
            <a:ext cx="34647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زمن معالجة بلاغات المخالفات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4893469" y="4507706"/>
            <a:ext cx="34647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دقة استهداف الرقابة الذكية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71500" y="3103959"/>
            <a:ext cx="3893344" cy="17466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4421981" y="3103959"/>
            <a:ext cx="42863" cy="1746647"/>
          </a:xfrm>
          <a:prstGeom prst="rect">
            <a:avLst/>
          </a:prstGeom>
          <a:solidFill>
            <a:srgbClr val="1E1B4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0506" y="3398639"/>
            <a:ext cx="200025" cy="20002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068241" y="3318272"/>
            <a:ext cx="875109" cy="3607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سوق العمل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85813" y="3821906"/>
            <a:ext cx="34647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مؤشر مواءمة المهارات والوظائف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785813" y="4164806"/>
            <a:ext cx="34647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نسبة استدامة التوظيف الوطني</a:t>
            </a:r>
            <a:endParaRPr lang="en-US" sz="950" dirty="0"/>
          </a:p>
        </p:txBody>
      </p:sp>
      <p:sp>
        <p:nvSpPr>
          <p:cNvPr id="30" name="Text 24"/>
          <p:cNvSpPr/>
          <p:nvPr/>
        </p:nvSpPr>
        <p:spPr>
          <a:xfrm>
            <a:off x="785813" y="4507706"/>
            <a:ext cx="346471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معدل مشاركة الفئات المستهدفة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571500" y="4507706"/>
            <a:ext cx="8001000" cy="350044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2" name="Text 26"/>
          <p:cNvSpPr/>
          <p:nvPr/>
        </p:nvSpPr>
        <p:spPr>
          <a:xfrm>
            <a:off x="571500" y="4507706"/>
            <a:ext cx="8001000" cy="350044"/>
          </a:xfrm>
          <a:prstGeom prst="rect">
            <a:avLst/>
          </a:prstGeom>
          <a:noFill/>
          <a:ln/>
        </p:spPr>
        <p:txBody>
          <a:bodyPr wrap="square" lIns="0" tIns="127508" rIns="212598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FFFFFF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تنبيه: الأهداف الرقمية والقيم الحالية تُعتمد بعد مراجعة ملفات المشروع التفصيلية وتحديد خط الأساس (Baseline).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8572500" cy="632222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خارطة الطريق التنفيذية (2026-2028)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7429500" y="1428750"/>
            <a:ext cx="571500" cy="571500"/>
          </a:xfrm>
          <a:prstGeom prst="ellipse">
            <a:avLst/>
          </a:prstGeom>
          <a:solidFill>
            <a:srgbClr val="1E1B4B"/>
          </a:solidFill>
          <a:ln w="45720">
            <a:solidFill>
              <a:srgbClr val="059669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736" y="1614488"/>
            <a:ext cx="225028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041952" y="2178844"/>
            <a:ext cx="1346597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المرحلة 1: التأسيس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858000" y="2507456"/>
            <a:ext cx="17145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الربع الأول - الثاني 2026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6858000" y="2893219"/>
            <a:ext cx="1714500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6858000" y="2893219"/>
            <a:ext cx="1714500" cy="28575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0" name="Text 6"/>
          <p:cNvSpPr/>
          <p:nvPr/>
        </p:nvSpPr>
        <p:spPr>
          <a:xfrm>
            <a:off x="6965156" y="3036094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توحيد الرؤية الاستراتيجية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965156" y="3257550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حصر الخدمات والبيانات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965156" y="3479006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تحديد الحوكمة وخط الأساس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965156" y="3700463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إطلاق مكتب إدارة المنظومة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8426053" y="3036094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8426053" y="3257550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426053" y="3479006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8426053" y="3700463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334037" y="1428750"/>
            <a:ext cx="571500" cy="571500"/>
          </a:xfrm>
          <a:prstGeom prst="ellipse">
            <a:avLst/>
          </a:prstGeom>
          <a:solidFill>
            <a:srgbClr val="FFFFFF"/>
          </a:solidFill>
          <a:ln w="45720">
            <a:solidFill>
              <a:srgbClr val="1E1B4B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4772" y="1614488"/>
            <a:ext cx="250031" cy="2000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17926" y="2178844"/>
            <a:ext cx="120372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المرحلة 2: التكامل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762537" y="2507456"/>
            <a:ext cx="17145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الربع الثالث 2026 - 2027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4762537" y="2893219"/>
            <a:ext cx="1714500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4762537" y="2893219"/>
            <a:ext cx="1714500" cy="28575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4" name="Text 19"/>
          <p:cNvSpPr/>
          <p:nvPr/>
        </p:nvSpPr>
        <p:spPr>
          <a:xfrm>
            <a:off x="4869693" y="3036094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ربط السجلات والمنصات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4869693" y="3257550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بناء واجهات التكامل (APIs)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869693" y="3479006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توحيد هوية المستفيد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869693" y="3700463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أتمتة الرحلات المشتركة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330590" y="3036094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6330590" y="3257550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6330590" y="3479006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6330590" y="3700463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3238574" y="1428750"/>
            <a:ext cx="571500" cy="571500"/>
          </a:xfrm>
          <a:prstGeom prst="ellipse">
            <a:avLst/>
          </a:prstGeom>
          <a:solidFill>
            <a:srgbClr val="FFFFFF"/>
          </a:solidFill>
          <a:ln w="45720">
            <a:solidFill>
              <a:srgbClr val="1E1B4B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312" y="1614488"/>
            <a:ext cx="200025" cy="200025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913534" y="2178844"/>
            <a:ext cx="122158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المرحلة 3: التمكين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2667074" y="2507456"/>
            <a:ext cx="17145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خلال عام 2027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2667074" y="2893219"/>
            <a:ext cx="1714500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1"/>
          <p:cNvSpPr/>
          <p:nvPr/>
        </p:nvSpPr>
        <p:spPr>
          <a:xfrm>
            <a:off x="2667074" y="2893219"/>
            <a:ext cx="1714500" cy="28575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8" name="Text 32"/>
          <p:cNvSpPr/>
          <p:nvPr/>
        </p:nvSpPr>
        <p:spPr>
          <a:xfrm>
            <a:off x="2774231" y="3036094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إطلاق لوحات القيادة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2774231" y="3257550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الأتمتة الاستباقية للخدمات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2774231" y="3479006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التحليلات المبنية على المخاطر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2774231" y="3700463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تفعيل الذكاء الاصطناعي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4235128" y="3036094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4235128" y="3257550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4235128" y="3479006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4235128" y="3700463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  <p:sp>
        <p:nvSpPr>
          <p:cNvPr id="46" name="Shape 40"/>
          <p:cNvSpPr/>
          <p:nvPr/>
        </p:nvSpPr>
        <p:spPr>
          <a:xfrm>
            <a:off x="1143112" y="1428750"/>
            <a:ext cx="571500" cy="571500"/>
          </a:xfrm>
          <a:prstGeom prst="ellipse">
            <a:avLst/>
          </a:prstGeom>
          <a:solidFill>
            <a:srgbClr val="FFFFFF"/>
          </a:solidFill>
          <a:ln w="45720">
            <a:solidFill>
              <a:srgbClr val="1E1B4B"/>
            </a:solidFill>
            <a:prstDash val="solid"/>
          </a:ln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3846" y="1614488"/>
            <a:ext cx="250031" cy="200025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743062" y="2178844"/>
            <a:ext cx="13716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المرحلة 4: الاستدامة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571612" y="2507456"/>
            <a:ext cx="17145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2028 وما بعدها</a:t>
            </a:r>
            <a:endParaRPr lang="en-US" sz="800" dirty="0"/>
          </a:p>
        </p:txBody>
      </p:sp>
      <p:sp>
        <p:nvSpPr>
          <p:cNvPr id="50" name="Shape 43"/>
          <p:cNvSpPr/>
          <p:nvPr/>
        </p:nvSpPr>
        <p:spPr>
          <a:xfrm>
            <a:off x="571612" y="2893219"/>
            <a:ext cx="1714500" cy="12858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4"/>
          <p:cNvSpPr/>
          <p:nvPr/>
        </p:nvSpPr>
        <p:spPr>
          <a:xfrm>
            <a:off x="571612" y="2893219"/>
            <a:ext cx="1714500" cy="28575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2" name="Text 45"/>
          <p:cNvSpPr/>
          <p:nvPr/>
        </p:nvSpPr>
        <p:spPr>
          <a:xfrm>
            <a:off x="678768" y="3036094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التحسين المستمر للرحلة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678768" y="3257550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قياس الأثر الدوري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678768" y="3479006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مراجعة وتحديث السياسات</a:t>
            </a:r>
            <a:endParaRPr lang="en-US" sz="800" dirty="0"/>
          </a:p>
        </p:txBody>
      </p:sp>
      <p:sp>
        <p:nvSpPr>
          <p:cNvPr id="55" name="Text 48"/>
          <p:cNvSpPr/>
          <p:nvPr/>
        </p:nvSpPr>
        <p:spPr>
          <a:xfrm>
            <a:off x="678768" y="3700463"/>
            <a:ext cx="1500188" cy="150019"/>
          </a:xfrm>
          <a:prstGeom prst="rect">
            <a:avLst/>
          </a:prstGeom>
          <a:noFill/>
          <a:ln/>
        </p:spPr>
        <p:txBody>
          <a:bodyPr wrap="none" lIns="0" tIns="0" rIns="127508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توسيع الشراكات الوطنية</a:t>
            </a:r>
            <a:endParaRPr lang="en-US" sz="800" dirty="0"/>
          </a:p>
        </p:txBody>
      </p:sp>
      <p:sp>
        <p:nvSpPr>
          <p:cNvPr id="56" name="Text 49"/>
          <p:cNvSpPr/>
          <p:nvPr/>
        </p:nvSpPr>
        <p:spPr>
          <a:xfrm>
            <a:off x="2139665" y="3036094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  <p:sp>
        <p:nvSpPr>
          <p:cNvPr id="57" name="Text 50"/>
          <p:cNvSpPr/>
          <p:nvPr/>
        </p:nvSpPr>
        <p:spPr>
          <a:xfrm>
            <a:off x="2139665" y="3257550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  <p:sp>
        <p:nvSpPr>
          <p:cNvPr id="58" name="Text 51"/>
          <p:cNvSpPr/>
          <p:nvPr/>
        </p:nvSpPr>
        <p:spPr>
          <a:xfrm>
            <a:off x="2139665" y="3479006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  <p:sp>
        <p:nvSpPr>
          <p:cNvPr id="59" name="Text 52"/>
          <p:cNvSpPr/>
          <p:nvPr/>
        </p:nvSpPr>
        <p:spPr>
          <a:xfrm>
            <a:off x="2139665" y="3700463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059669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•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28625"/>
            <a:ext cx="8572500" cy="632222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الحوكمة والقرارات الاستراتيجية المطلوبة</a:t>
            </a:r>
            <a:endParaRPr lang="en-US" sz="2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7472" y="1253728"/>
            <a:ext cx="225028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29375" y="1143000"/>
            <a:ext cx="1810941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إطار حوكمة المنظومة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4243388" y="1743075"/>
            <a:ext cx="4329113" cy="8686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8543925" y="1743075"/>
            <a:ext cx="28575" cy="868635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8" name="Text 4"/>
          <p:cNvSpPr/>
          <p:nvPr/>
        </p:nvSpPr>
        <p:spPr>
          <a:xfrm>
            <a:off x="4386263" y="1885950"/>
            <a:ext cx="404336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حوكمة القرار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86263" y="2271713"/>
            <a:ext cx="4043363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تشكيل مجلس توجيهي عليا، مكتب إدارة منظومة (PMO)، وتسمية ملاك البيانات ومسؤولي الخدمات.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243388" y="2718867"/>
            <a:ext cx="4329113" cy="8686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8543925" y="2718867"/>
            <a:ext cx="28575" cy="868635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2" name="Text 8"/>
          <p:cNvSpPr/>
          <p:nvPr/>
        </p:nvSpPr>
        <p:spPr>
          <a:xfrm>
            <a:off x="4386263" y="2861742"/>
            <a:ext cx="404336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حوكمة البيانات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386263" y="3247504"/>
            <a:ext cx="4043363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وضع سياسات التصنيف، معايير الجودة، صلاحيات الوصول، الخصوصية، وتتبع سجلات الاستخدام.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243388" y="3694658"/>
            <a:ext cx="4329113" cy="86863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543925" y="3694658"/>
            <a:ext cx="28575" cy="868635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16" name="Text 12"/>
          <p:cNvSpPr/>
          <p:nvPr/>
        </p:nvSpPr>
        <p:spPr>
          <a:xfrm>
            <a:off x="4386263" y="3837533"/>
            <a:ext cx="4043363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حوكمة التغيير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386263" y="4223296"/>
            <a:ext cx="4043363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إدارة محفظة المبادرات، تحديد الأولويات الاستراتيجية، وإجراء المراجعات الدورية للأداء.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71500" y="1143000"/>
            <a:ext cx="3314700" cy="335745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571500" y="1143000"/>
            <a:ext cx="3314700" cy="42863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863" y="1468041"/>
            <a:ext cx="200025" cy="2000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439466" y="1357313"/>
            <a:ext cx="1925241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قرارات المرحلة القادمة</a:t>
            </a:r>
            <a:endParaRPr lang="en-US" sz="14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872" y="2064544"/>
            <a:ext cx="125016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35881" y="2028825"/>
            <a:ext cx="2103834" cy="1899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1B4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اعتماد النطاق النهائي للمنظومة الوطنية.</a:t>
            </a:r>
            <a:endParaRPr lang="en-US" sz="10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6872" y="2468835"/>
            <a:ext cx="125016" cy="14287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60872" y="2433117"/>
            <a:ext cx="2178844" cy="1899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1B4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تسمية ملاك المسارات والقدرات الوطنية.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6872" y="2873127"/>
            <a:ext cx="125016" cy="14287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75159" y="2837408"/>
            <a:ext cx="2164556" cy="1899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1B4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إقرار خط الأساس لمؤشرات الأداء الحالية.</a:t>
            </a:r>
            <a:endParaRPr lang="en-US" sz="10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6872" y="3277419"/>
            <a:ext cx="125016" cy="14287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57288" y="3241700"/>
            <a:ext cx="2282428" cy="1899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1E1B4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تحديد قائمة الخدمات ذات الأولوية للتكامل.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4836319" y="4614863"/>
            <a:ext cx="373618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* تتطلب الحوكمة الفعالة التزاماً قيادياً وتنسيقاً عابراً للقطاعات لضمان استدامة الأثر.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509327"/>
            <a:ext cx="7143750" cy="4457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1E1B4B"/>
                </a:solidFill>
                <a:latin typeface="Noto Sans Arabic Black" pitchFamily="34" charset="0"/>
                <a:ea typeface="Noto Sans Arabic Black" pitchFamily="34" charset="-122"/>
                <a:cs typeface="Noto Sans Arabic Black" pitchFamily="34" charset="-120"/>
              </a:rPr>
              <a:t>الخلاصة والتوجه المستقبلي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714500" y="1169398"/>
            <a:ext cx="5715000" cy="721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المنظومة الوطنية لإدارة قطاع العمل ليست مجرد منصة تقنية إضافية، بل هي </a:t>
            </a:r>
            <a:r>
              <a:rPr lang="en-US" sz="1200" b="1" dirty="0">
                <a:solidFill>
                  <a:srgbClr val="312E81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نموذج تشغيل حكومي متكامل</a:t>
            </a:r>
            <a:r>
              <a:rPr lang="en-US" sz="1250" dirty="0">
                <a:solidFill>
                  <a:srgbClr val="312E81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 يربط السياسة بالخدمة والبيانات بالأثر المستدام.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929313" y="2462417"/>
            <a:ext cx="2000250" cy="14644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929313" y="2462417"/>
            <a:ext cx="2000250" cy="2857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38" y="2676730"/>
            <a:ext cx="28575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72188" y="3012486"/>
            <a:ext cx="17145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قيادة موحدة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157913" y="3412536"/>
            <a:ext cx="16287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ضمان اتساق الرؤية بين كافة الجهات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7236619" y="3655423"/>
            <a:ext cx="55006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ذات العلاقة.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571875" y="2462417"/>
            <a:ext cx="2000250" cy="14644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3571875" y="2462417"/>
            <a:ext cx="2000250" cy="2857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225" y="2676730"/>
            <a:ext cx="200025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14750" y="3012486"/>
            <a:ext cx="17145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بيانات موثوقة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764756" y="3412536"/>
            <a:ext cx="166449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الاعتماد على سجل وطني موحد وعالي</a:t>
            </a:r>
            <a:endParaRPr lang="en-US" sz="850" dirty="0"/>
          </a:p>
        </p:txBody>
      </p:sp>
      <p:sp>
        <p:nvSpPr>
          <p:cNvPr id="16" name="Text 11"/>
          <p:cNvSpPr/>
          <p:nvPr/>
        </p:nvSpPr>
        <p:spPr>
          <a:xfrm>
            <a:off x="5114925" y="3655423"/>
            <a:ext cx="3143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الجودة.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1214438" y="2462417"/>
            <a:ext cx="2000250" cy="14644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1214438" y="2462417"/>
            <a:ext cx="2000250" cy="28575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638" y="2691017"/>
            <a:ext cx="257175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57313" y="3026773"/>
            <a:ext cx="17145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تنفيذ مرحلي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1414463" y="3426823"/>
            <a:ext cx="16573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تحقيق مكاسب سريعة مع قياس الأثر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2743200" y="3669711"/>
            <a:ext cx="32861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الدوري.</a:t>
            </a:r>
            <a:endParaRPr lang="en-US" sz="8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3252" y="4594827"/>
            <a:ext cx="200025" cy="2000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930723" y="4484098"/>
            <a:ext cx="2975372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Noto Sans Arabic Bold" pitchFamily="34" charset="0"/>
                <a:ea typeface="Noto Sans Arabic Bold" pitchFamily="34" charset="-122"/>
                <a:cs typeface="Noto Sans Arabic Bold" pitchFamily="34" charset="-120"/>
              </a:rPr>
              <a:t>شكراً لكم .. نحو مستقبل عمل واعد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2026-09-01T12:39:24Z</dcterms:created>
  <dcterms:modified xsi:type="dcterms:W3CDTF">2026-09-01T12:39:24Z</dcterms:modified>
</cp:coreProperties>
</file>